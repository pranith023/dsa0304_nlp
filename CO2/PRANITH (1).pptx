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59"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C397CF-52D5-4970-B5E6-DCA4E4D2EB8D}" v="31" dt="2026-07-16T14:24:21.2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FE18-B23A-D5E9-F7E6-5371AAC5D91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CDAE755A-8525-0A32-EFE3-7A977DD518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6CE0878A-CAB0-D229-9746-81AEF571F647}"/>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5" name="Footer Placeholder 4">
            <a:extLst>
              <a:ext uri="{FF2B5EF4-FFF2-40B4-BE49-F238E27FC236}">
                <a16:creationId xmlns:a16="http://schemas.microsoft.com/office/drawing/2014/main" id="{A5EF250D-55B6-13E9-11D5-9D82626EF3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040EE8-615B-799E-18B7-007E0BF57284}"/>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665470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5B355-E519-A557-CD4D-CBDA55E28A73}"/>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9D9D7D06-F32A-F539-4905-94FBAE54243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351EA79-2FA8-4856-A043-7622D502D093}"/>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5" name="Footer Placeholder 4">
            <a:extLst>
              <a:ext uri="{FF2B5EF4-FFF2-40B4-BE49-F238E27FC236}">
                <a16:creationId xmlns:a16="http://schemas.microsoft.com/office/drawing/2014/main" id="{09005783-AE86-3919-3385-07A158B6EC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036F4-CE2E-157C-6149-34B2BEBEB92A}"/>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603804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149F-71BA-EA49-77A2-A2FAB761AD1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6ABE5B12-BE4E-2ED4-14D7-75DD2A8124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09FB85E-62DD-01AD-EBDA-D45705BC0C97}"/>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5" name="Footer Placeholder 4">
            <a:extLst>
              <a:ext uri="{FF2B5EF4-FFF2-40B4-BE49-F238E27FC236}">
                <a16:creationId xmlns:a16="http://schemas.microsoft.com/office/drawing/2014/main" id="{53F9D2A6-8439-EDC5-C3A9-021266842F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0FE0F2-9B94-21E8-6A7C-AEF18E45FE55}"/>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40791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3C08-D240-4EAB-2981-17E8366DD52F}"/>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A0963DA3-17AB-CB86-035E-D7A5AC69E9E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F1E6BABB-72B1-82F8-F9FC-B278B813C55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584F14A2-AEDF-E2E1-A232-333780561F1F}"/>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6" name="Footer Placeholder 5">
            <a:extLst>
              <a:ext uri="{FF2B5EF4-FFF2-40B4-BE49-F238E27FC236}">
                <a16:creationId xmlns:a16="http://schemas.microsoft.com/office/drawing/2014/main" id="{ACB09F9C-5CA2-A6AE-B440-17E19B9176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7F5912-21EE-97E7-B3BE-FDAD4736BCAD}"/>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2865155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76BD-1A10-E71A-EE9A-73AF7FCEEE13}"/>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E94A404A-1299-F316-4D07-04260C919D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57972E6-2319-2CB6-509B-D27912CA592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7229F987-8608-531C-A56F-71BD0F25EB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B27CA31-03E2-AADA-8DF7-E6E1D7D5FA9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A1906D32-63C3-1D29-834B-33880618E84B}"/>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8" name="Footer Placeholder 7">
            <a:extLst>
              <a:ext uri="{FF2B5EF4-FFF2-40B4-BE49-F238E27FC236}">
                <a16:creationId xmlns:a16="http://schemas.microsoft.com/office/drawing/2014/main" id="{99F70803-CF98-61D1-7C4F-78002B9DC97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7CEF25D-51D5-48CF-8111-21DD55CFBFEA}"/>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253147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79FD9-2EFB-3F43-86F7-EE2FF2576E09}"/>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79C8CC4C-D5FB-E134-5A1E-398E3F6C8F24}"/>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4" name="Footer Placeholder 3">
            <a:extLst>
              <a:ext uri="{FF2B5EF4-FFF2-40B4-BE49-F238E27FC236}">
                <a16:creationId xmlns:a16="http://schemas.microsoft.com/office/drawing/2014/main" id="{85EBA3BB-0E37-9683-5F0C-C259ECCCB4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6CD487-8F14-0FDC-AAA2-8D296896EB1C}"/>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2975379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565810-3D87-5BE1-9591-3283C792A39F}"/>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3" name="Footer Placeholder 2">
            <a:extLst>
              <a:ext uri="{FF2B5EF4-FFF2-40B4-BE49-F238E27FC236}">
                <a16:creationId xmlns:a16="http://schemas.microsoft.com/office/drawing/2014/main" id="{1813BE42-3677-1960-DD8A-A3360EA0DC4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7E06D2-B9EC-1513-9E3B-B1FE52EA8EA2}"/>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2972165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4069B-6A44-0A5E-13C1-2BEE03F3A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F8AD6C26-827E-1EB5-85B4-2093D4E52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E66C93E2-E690-D2CB-4D81-6E315B2F86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5D8B7A9-D5C4-6DA7-5476-97C144A71725}"/>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6" name="Footer Placeholder 5">
            <a:extLst>
              <a:ext uri="{FF2B5EF4-FFF2-40B4-BE49-F238E27FC236}">
                <a16:creationId xmlns:a16="http://schemas.microsoft.com/office/drawing/2014/main" id="{09D3CE59-740F-FA50-3E37-0D9620A522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5F4B82-C857-F645-98F1-3077ABCC40DD}"/>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1828820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66348-734D-DFC5-6D9F-425A3990AC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0F63168D-2E83-A98D-752D-8E40D77328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F36DB8B-0E2F-4113-797F-A903F87FCB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A8178D4-2D98-C8BE-C21F-211142FEC118}"/>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6" name="Footer Placeholder 5">
            <a:extLst>
              <a:ext uri="{FF2B5EF4-FFF2-40B4-BE49-F238E27FC236}">
                <a16:creationId xmlns:a16="http://schemas.microsoft.com/office/drawing/2014/main" id="{BDBB2590-D00B-9EB0-D417-176BF70322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EA03B0-575A-BAEB-53A1-223D3D53727C}"/>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682351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BD887-3A34-A047-F17C-FF6863BD7149}"/>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7D9B4DEE-22A2-2B87-DA56-4135B462B1A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E0F61FA-5A3C-1288-3D76-B87D3206AF08}"/>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5" name="Footer Placeholder 4">
            <a:extLst>
              <a:ext uri="{FF2B5EF4-FFF2-40B4-BE49-F238E27FC236}">
                <a16:creationId xmlns:a16="http://schemas.microsoft.com/office/drawing/2014/main" id="{FB9935A9-D45A-81BF-DD9B-C78EF5597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F867E3-FAE3-6685-3F0D-309440627498}"/>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834753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7B3F70-CA40-5967-47C7-37202C2E74C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9A5ACDEC-CBCC-FE06-F637-C8281A9329E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6D9ED51-1866-4654-7774-826F1288EBA3}"/>
              </a:ext>
            </a:extLst>
          </p:cNvPr>
          <p:cNvSpPr>
            <a:spLocks noGrp="1"/>
          </p:cNvSpPr>
          <p:nvPr>
            <p:ph type="dt" sz="half" idx="10"/>
          </p:nvPr>
        </p:nvSpPr>
        <p:spPr/>
        <p:txBody>
          <a:bodyPr/>
          <a:lstStyle/>
          <a:p>
            <a:fld id="{36496FB9-B2D9-455D-847A-22781B5167AF}" type="datetimeFigureOut">
              <a:rPr lang="en-IN" smtClean="0"/>
              <a:t>16-07-2026</a:t>
            </a:fld>
            <a:endParaRPr lang="en-IN"/>
          </a:p>
        </p:txBody>
      </p:sp>
      <p:sp>
        <p:nvSpPr>
          <p:cNvPr id="5" name="Footer Placeholder 4">
            <a:extLst>
              <a:ext uri="{FF2B5EF4-FFF2-40B4-BE49-F238E27FC236}">
                <a16:creationId xmlns:a16="http://schemas.microsoft.com/office/drawing/2014/main" id="{A829AF67-25C2-CE1E-6F1E-EAF3E248B9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EA94BD-4CE2-C031-7FEA-FFAE5D16490B}"/>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2181943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D171DF-AEE1-21AE-DD72-23C00B3CBB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794FFF31-193C-BA95-3965-1D3AF59AB1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14D3EA6-121C-00EB-A33A-FC691DF7A7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496FB9-B2D9-455D-847A-22781B5167AF}" type="datetimeFigureOut">
              <a:rPr lang="en-IN" smtClean="0"/>
              <a:t>16-07-2026</a:t>
            </a:fld>
            <a:endParaRPr lang="en-IN"/>
          </a:p>
        </p:txBody>
      </p:sp>
      <p:sp>
        <p:nvSpPr>
          <p:cNvPr id="5" name="Footer Placeholder 4">
            <a:extLst>
              <a:ext uri="{FF2B5EF4-FFF2-40B4-BE49-F238E27FC236}">
                <a16:creationId xmlns:a16="http://schemas.microsoft.com/office/drawing/2014/main" id="{5A5730AB-202C-0861-F388-F97B9B0654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C76A99-24FB-30A7-9332-FCD71A41AB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D9E24A-02D1-4F97-AECB-1CCA4325A591}" type="slidenum">
              <a:rPr lang="en-IN" smtClean="0"/>
              <a:t>‹#›</a:t>
            </a:fld>
            <a:endParaRPr lang="en-IN"/>
          </a:p>
        </p:txBody>
      </p:sp>
    </p:spTree>
    <p:extLst>
      <p:ext uri="{BB962C8B-B14F-4D97-AF65-F5344CB8AC3E}">
        <p14:creationId xmlns:p14="http://schemas.microsoft.com/office/powerpoint/2010/main" val="2106204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5bA-Za-z0-9.-%5d+\.%5bA-Za-z%5d%7b2,%7d"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2C60-447D-EB78-1044-A1084E398956}"/>
              </a:ext>
            </a:extLst>
          </p:cNvPr>
          <p:cNvSpPr>
            <a:spLocks noGrp="1"/>
          </p:cNvSpPr>
          <p:nvPr>
            <p:ph type="ctrTitle"/>
          </p:nvPr>
        </p:nvSpPr>
        <p:spPr>
          <a:xfrm>
            <a:off x="1523999" y="1600199"/>
            <a:ext cx="9725026" cy="1929581"/>
          </a:xfrm>
        </p:spPr>
        <p:txBody>
          <a:bodyPr>
            <a:normAutofit fontScale="90000"/>
          </a:bodyPr>
          <a:lstStyle/>
          <a:p>
            <a:r>
              <a:rPr lang="en-US" sz="5600" dirty="0">
                <a:latin typeface="Times New Roman" panose="02020603050405020304" pitchFamily="18" charset="0"/>
                <a:cs typeface="Times New Roman" panose="02020603050405020304" pitchFamily="18" charset="0"/>
              </a:rPr>
              <a:t>Designing Efficient Regular Expression Patterns for Information Extraction</a:t>
            </a:r>
            <a:endParaRPr lang="en-IN" dirty="0"/>
          </a:p>
        </p:txBody>
      </p:sp>
      <p:sp>
        <p:nvSpPr>
          <p:cNvPr id="3" name="Subtitle 2">
            <a:extLst>
              <a:ext uri="{FF2B5EF4-FFF2-40B4-BE49-F238E27FC236}">
                <a16:creationId xmlns:a16="http://schemas.microsoft.com/office/drawing/2014/main" id="{64EB1DD6-7F94-8CC4-DC63-42973B587506}"/>
              </a:ext>
            </a:extLst>
          </p:cNvPr>
          <p:cNvSpPr>
            <a:spLocks noGrp="1"/>
          </p:cNvSpPr>
          <p:nvPr>
            <p:ph type="subTitle" idx="1"/>
          </p:nvPr>
        </p:nvSpPr>
        <p:spPr>
          <a:xfrm>
            <a:off x="4640832" y="4103483"/>
            <a:ext cx="6794090" cy="1655762"/>
          </a:xfrm>
        </p:spPr>
        <p:txBody>
          <a:bodyPr>
            <a:normAutofit lnSpcReduction="10000"/>
          </a:bodyPr>
          <a:lstStyle/>
          <a:p>
            <a:pPr algn="r"/>
            <a:r>
              <a:rPr lang="en-US" dirty="0">
                <a:latin typeface="Times New Roman" panose="02020603050405020304" pitchFamily="18" charset="0"/>
                <a:cs typeface="Times New Roman" panose="02020603050405020304" pitchFamily="18" charset="0"/>
              </a:rPr>
              <a:t>NAME: B . Pranith Sai Nihal (192472294)</a:t>
            </a:r>
          </a:p>
          <a:p>
            <a:pPr algn="r">
              <a:defRPr/>
            </a:pPr>
            <a:r>
              <a:rPr lang="en-US" dirty="0">
                <a:latin typeface="Times New Roman" panose="02020603050405020304" pitchFamily="18" charset="0"/>
                <a:cs typeface="Times New Roman" panose="02020603050405020304" pitchFamily="18" charset="0"/>
              </a:rPr>
              <a:t>COURSE : DSA0302-</a:t>
            </a:r>
            <a:r>
              <a:rPr lang="en-IN" dirty="0">
                <a:latin typeface="Times New Roman" panose="02020603050405020304" pitchFamily="18" charset="0"/>
                <a:cs typeface="Times New Roman" panose="02020603050405020304" pitchFamily="18" charset="0"/>
              </a:rPr>
              <a:t> Natural Language Processing</a:t>
            </a:r>
          </a:p>
          <a:p>
            <a:pPr algn="r">
              <a:defRPr/>
            </a:pPr>
            <a:r>
              <a:rPr lang="en-US" dirty="0">
                <a:latin typeface="Times New Roman" panose="02020603050405020304" pitchFamily="18" charset="0"/>
                <a:cs typeface="Times New Roman" panose="02020603050405020304" pitchFamily="18" charset="0"/>
              </a:rPr>
              <a:t>Course Faculty : Dr. T. Devi </a:t>
            </a:r>
          </a:p>
          <a:p>
            <a:pPr algn="r">
              <a:defRPr/>
            </a:pPr>
            <a:r>
              <a:rPr lang="en-US" dirty="0">
                <a:latin typeface="Times New Roman" panose="02020603050405020304" pitchFamily="18" charset="0"/>
                <a:cs typeface="Times New Roman" panose="02020603050405020304" pitchFamily="18" charset="0"/>
              </a:rPr>
              <a:t>SIMATS Engineering, Chennai</a:t>
            </a:r>
          </a:p>
          <a:p>
            <a:pPr algn="r"/>
            <a:endParaRPr lang="en-IN" dirty="0"/>
          </a:p>
        </p:txBody>
      </p:sp>
      <p:pic>
        <p:nvPicPr>
          <p:cNvPr id="5" name="image3.png" descr="C:\Users\ADMIN\AppData\Local\Microsoft\Windows\INetCache\Content.MSO\C29DB0A6.tmp">
            <a:extLst>
              <a:ext uri="{FF2B5EF4-FFF2-40B4-BE49-F238E27FC236}">
                <a16:creationId xmlns:a16="http://schemas.microsoft.com/office/drawing/2014/main" id="{EC971E88-F9A6-93F0-E460-73E1154EF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263" y="169863"/>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2483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A2CEC-D1BB-F210-77EE-9C3B7E04FEEA}"/>
              </a:ext>
            </a:extLst>
          </p:cNvPr>
          <p:cNvSpPr>
            <a:spLocks noGrp="1"/>
          </p:cNvSpPr>
          <p:nvPr>
            <p:ph type="title"/>
          </p:nvPr>
        </p:nvSpPr>
        <p:spPr>
          <a:xfrm>
            <a:off x="1032386" y="1484673"/>
            <a:ext cx="10321413" cy="795953"/>
          </a:xfrm>
        </p:spPr>
        <p:txBody>
          <a:bodyPr/>
          <a:lstStyle/>
          <a:p>
            <a:pPr algn="ctr"/>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42140919-E830-7A20-81BA-8AB0EDF11B0A}"/>
              </a:ext>
            </a:extLst>
          </p:cNvPr>
          <p:cNvSpPr>
            <a:spLocks noGrp="1"/>
          </p:cNvSpPr>
          <p:nvPr>
            <p:ph idx="1"/>
          </p:nvPr>
        </p:nvSpPr>
        <p:spPr>
          <a:xfrm>
            <a:off x="1700980" y="2366398"/>
            <a:ext cx="9652819" cy="2815201"/>
          </a:xfrm>
        </p:spPr>
        <p:txBody>
          <a:bodyPr>
            <a:normAutofit/>
          </a:bodyPr>
          <a:lstStyle/>
          <a:p>
            <a:pPr algn="just">
              <a:lnSpc>
                <a:spcPct val="150000"/>
              </a:lnSpc>
              <a:spcBef>
                <a:spcPts val="0"/>
              </a:spcBef>
            </a:pPr>
            <a:r>
              <a:rPr lang="en-US" sz="2000" dirty="0">
                <a:latin typeface="Times New Roman" panose="02020603050405020304" pitchFamily="18" charset="0"/>
                <a:cs typeface="Times New Roman" panose="02020603050405020304" pitchFamily="18" charset="0"/>
              </a:rPr>
              <a:t>Regular Expressions (Regex) are sequences of characters that define search patterns used to identify, extract, and validate information from text. They are widely used to extract structured data such as email addresses, phone numbers, URLs, dates, and IP addresses from unstructured text. Regex plays a vital role in Data Science, Natural Language Processing (NLP), Web Scraping, Data Cleaning, and Cybersecurity by automating text processing, improving accuracy, and reducing manual effort.</a:t>
            </a:r>
            <a:endParaRPr lang="en-IN" sz="2000" dirty="0">
              <a:latin typeface="Times New Roman" panose="02020603050405020304" pitchFamily="18" charset="0"/>
              <a:cs typeface="Times New Roman" panose="02020603050405020304" pitchFamily="18" charset="0"/>
            </a:endParaRPr>
          </a:p>
        </p:txBody>
      </p:sp>
      <p:pic>
        <p:nvPicPr>
          <p:cNvPr id="5" name="image3.png" descr="C:\Users\ADMIN\AppData\Local\Microsoft\Windows\INetCache\Content.MSO\C29DB0A6.tmp">
            <a:extLst>
              <a:ext uri="{FF2B5EF4-FFF2-40B4-BE49-F238E27FC236}">
                <a16:creationId xmlns:a16="http://schemas.microsoft.com/office/drawing/2014/main" id="{2DA917EF-C5D1-7774-6A6D-F0B355039A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012" y="145795"/>
            <a:ext cx="7932737" cy="1054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0111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3C5C6-D0A5-1B4E-CDDB-EE8EF9579034}"/>
              </a:ext>
            </a:extLst>
          </p:cNvPr>
          <p:cNvSpPr>
            <a:spLocks noGrp="1"/>
          </p:cNvSpPr>
          <p:nvPr>
            <p:ph type="title"/>
          </p:nvPr>
        </p:nvSpPr>
        <p:spPr>
          <a:xfrm>
            <a:off x="838200" y="915731"/>
            <a:ext cx="10515600" cy="1325563"/>
          </a:xfrm>
        </p:spPr>
        <p:txBody>
          <a:bodyPr/>
          <a:lstStyle/>
          <a:p>
            <a:pPr algn="ctr"/>
            <a:r>
              <a:rPr lang="en-IN" dirty="0">
                <a:latin typeface="Times New Roman" panose="02020603050405020304" pitchFamily="18" charset="0"/>
                <a:cs typeface="Times New Roman" panose="02020603050405020304" pitchFamily="18" charset="0"/>
              </a:rPr>
              <a:t>Why Regex is Needed</a:t>
            </a:r>
          </a:p>
        </p:txBody>
      </p:sp>
      <p:sp>
        <p:nvSpPr>
          <p:cNvPr id="4" name="Content Placeholder 3">
            <a:extLst>
              <a:ext uri="{FF2B5EF4-FFF2-40B4-BE49-F238E27FC236}">
                <a16:creationId xmlns:a16="http://schemas.microsoft.com/office/drawing/2014/main" id="{0FFC956C-8921-EFFB-BC1D-115CA607F348}"/>
              </a:ext>
            </a:extLst>
          </p:cNvPr>
          <p:cNvSpPr>
            <a:spLocks noGrp="1"/>
          </p:cNvSpPr>
          <p:nvPr>
            <p:ph idx="1"/>
          </p:nvPr>
        </p:nvSpPr>
        <p:spPr>
          <a:xfrm>
            <a:off x="550607" y="1825625"/>
            <a:ext cx="9910916" cy="5155277"/>
          </a:xfrm>
        </p:spPr>
        <p:txBody>
          <a:bodyPr>
            <a:noAutofit/>
          </a:bodyPr>
          <a:lstStyle/>
          <a:p>
            <a:pPr algn="just">
              <a:lnSpc>
                <a:spcPct val="150000"/>
              </a:lnSpc>
              <a:spcBef>
                <a:spcPts val="0"/>
              </a:spcBef>
            </a:pPr>
            <a:r>
              <a:rPr lang="en-IN" sz="1800" dirty="0">
                <a:latin typeface="Times New Roman" panose="02020603050405020304" pitchFamily="18" charset="0"/>
                <a:cs typeface="Times New Roman" panose="02020603050405020304" pitchFamily="18" charset="0"/>
              </a:rPr>
              <a:t>Automates information extraction.</a:t>
            </a:r>
          </a:p>
          <a:p>
            <a:pPr algn="just">
              <a:lnSpc>
                <a:spcPct val="150000"/>
              </a:lnSpc>
              <a:spcBef>
                <a:spcPts val="0"/>
              </a:spcBef>
            </a:pPr>
            <a:r>
              <a:rPr lang="en-IN" sz="1800" dirty="0">
                <a:latin typeface="Times New Roman" panose="02020603050405020304" pitchFamily="18" charset="0"/>
                <a:cs typeface="Times New Roman" panose="02020603050405020304" pitchFamily="18" charset="0"/>
              </a:rPr>
              <a:t> Reduces manual effort. </a:t>
            </a:r>
          </a:p>
          <a:p>
            <a:pPr algn="just">
              <a:lnSpc>
                <a:spcPct val="150000"/>
              </a:lnSpc>
              <a:spcBef>
                <a:spcPts val="0"/>
              </a:spcBef>
            </a:pPr>
            <a:r>
              <a:rPr lang="en-IN" sz="1800" dirty="0">
                <a:latin typeface="Times New Roman" panose="02020603050405020304" pitchFamily="18" charset="0"/>
                <a:cs typeface="Times New Roman" panose="02020603050405020304" pitchFamily="18" charset="0"/>
              </a:rPr>
              <a:t>Improves accuracy. </a:t>
            </a:r>
          </a:p>
          <a:p>
            <a:pPr algn="just">
              <a:lnSpc>
                <a:spcPct val="150000"/>
              </a:lnSpc>
              <a:spcBef>
                <a:spcPts val="0"/>
              </a:spcBef>
            </a:pPr>
            <a:r>
              <a:rPr lang="en-IN" sz="1800" dirty="0">
                <a:latin typeface="Times New Roman" panose="02020603050405020304" pitchFamily="18" charset="0"/>
                <a:cs typeface="Times New Roman" panose="02020603050405020304" pitchFamily="18" charset="0"/>
              </a:rPr>
              <a:t>Processes large amounts of text quickly. 	</a:t>
            </a:r>
          </a:p>
          <a:p>
            <a:pPr algn="just">
              <a:lnSpc>
                <a:spcPct val="150000"/>
              </a:lnSpc>
              <a:spcBef>
                <a:spcPts val="0"/>
              </a:spcBef>
            </a:pPr>
            <a:r>
              <a:rPr lang="en-IN" sz="1800" dirty="0">
                <a:latin typeface="Times New Roman" panose="02020603050405020304" pitchFamily="18" charset="0"/>
                <a:cs typeface="Times New Roman" panose="02020603050405020304" pitchFamily="18" charset="0"/>
              </a:rPr>
              <a:t>Useful for data preprocessing and validation.</a:t>
            </a:r>
          </a:p>
          <a:p>
            <a:pPr marL="0" indent="0" algn="just">
              <a:lnSpc>
                <a:spcPct val="150000"/>
              </a:lnSpc>
              <a:spcBef>
                <a:spcPts val="0"/>
              </a:spcBef>
              <a:buNone/>
            </a:pPr>
            <a:r>
              <a:rPr lang="en-IN" sz="1800" b="1" dirty="0">
                <a:latin typeface="Times New Roman" panose="02020603050405020304" pitchFamily="18" charset="0"/>
                <a:cs typeface="Times New Roman" panose="02020603050405020304" pitchFamily="18" charset="0"/>
              </a:rPr>
              <a:t>Example:</a:t>
            </a:r>
          </a:p>
          <a:p>
            <a:pPr marL="0" indent="0" algn="just">
              <a:lnSpc>
                <a:spcPct val="150000"/>
              </a:lnSpc>
              <a:spcBef>
                <a:spcPts val="0"/>
              </a:spcBef>
              <a:buNone/>
            </a:pPr>
            <a:r>
              <a:rPr lang="en-US" sz="1800" dirty="0">
                <a:latin typeface="Times New Roman" panose="02020603050405020304" pitchFamily="18" charset="0"/>
                <a:cs typeface="Times New Roman" panose="02020603050405020304" pitchFamily="18" charset="0"/>
              </a:rPr>
              <a:t>Input:</a:t>
            </a:r>
          </a:p>
          <a:p>
            <a:pPr marL="0" indent="0" algn="just">
              <a:lnSpc>
                <a:spcPct val="150000"/>
              </a:lnSpc>
              <a:spcBef>
                <a:spcPts val="0"/>
              </a:spcBef>
              <a:buNone/>
            </a:pPr>
            <a:r>
              <a:rPr lang="en-US" sz="1800" dirty="0">
                <a:latin typeface="Times New Roman" panose="02020603050405020304" pitchFamily="18" charset="0"/>
                <a:cs typeface="Times New Roman" panose="02020603050405020304" pitchFamily="18" charset="0"/>
              </a:rPr>
              <a:t>Contact us at support@gmail.com or call +91 9876543210</a:t>
            </a:r>
          </a:p>
          <a:p>
            <a:pPr marL="0" indent="0" algn="just">
              <a:lnSpc>
                <a:spcPct val="150000"/>
              </a:lnSpc>
              <a:spcBef>
                <a:spcPts val="0"/>
              </a:spcBef>
              <a:buNone/>
            </a:pPr>
            <a:endParaRPr lang="en-US" sz="1800" dirty="0">
              <a:latin typeface="Times New Roman" panose="02020603050405020304" pitchFamily="18" charset="0"/>
              <a:cs typeface="Times New Roman" panose="02020603050405020304" pitchFamily="18" charset="0"/>
            </a:endParaRPr>
          </a:p>
          <a:p>
            <a:pPr marL="0" indent="0" algn="just">
              <a:lnSpc>
                <a:spcPct val="150000"/>
              </a:lnSpc>
              <a:spcBef>
                <a:spcPts val="0"/>
              </a:spcBef>
              <a:buNone/>
            </a:pPr>
            <a:r>
              <a:rPr lang="en-US" sz="1800" dirty="0">
                <a:latin typeface="Times New Roman" panose="02020603050405020304" pitchFamily="18" charset="0"/>
                <a:cs typeface="Times New Roman" panose="02020603050405020304" pitchFamily="18" charset="0"/>
              </a:rPr>
              <a:t>Output:</a:t>
            </a:r>
          </a:p>
          <a:p>
            <a:pPr marL="0" indent="0" algn="just">
              <a:lnSpc>
                <a:spcPct val="150000"/>
              </a:lnSpc>
              <a:spcBef>
                <a:spcPts val="0"/>
              </a:spcBef>
              <a:buNone/>
            </a:pPr>
            <a:r>
              <a:rPr lang="en-US" sz="1800" dirty="0">
                <a:latin typeface="Times New Roman" panose="02020603050405020304" pitchFamily="18" charset="0"/>
                <a:cs typeface="Times New Roman" panose="02020603050405020304" pitchFamily="18" charset="0"/>
              </a:rPr>
              <a:t>Email → support@gmail.com</a:t>
            </a:r>
          </a:p>
          <a:p>
            <a:pPr marL="0" indent="0" algn="just">
              <a:lnSpc>
                <a:spcPct val="150000"/>
              </a:lnSpc>
              <a:spcBef>
                <a:spcPts val="0"/>
              </a:spcBef>
              <a:buNone/>
            </a:pPr>
            <a:r>
              <a:rPr lang="en-US" sz="1800" dirty="0">
                <a:latin typeface="Times New Roman" panose="02020603050405020304" pitchFamily="18" charset="0"/>
                <a:cs typeface="Times New Roman" panose="02020603050405020304" pitchFamily="18" charset="0"/>
              </a:rPr>
              <a:t>Phone → +91 9876543210</a:t>
            </a:r>
            <a:endParaRPr lang="en-IN" sz="1800" dirty="0">
              <a:latin typeface="Times New Roman" panose="02020603050405020304" pitchFamily="18" charset="0"/>
              <a:cs typeface="Times New Roman" panose="02020603050405020304" pitchFamily="18" charset="0"/>
            </a:endParaRPr>
          </a:p>
        </p:txBody>
      </p:sp>
      <p:pic>
        <p:nvPicPr>
          <p:cNvPr id="7" name="image3.png" descr="C:\Users\ADMIN\AppData\Local\Microsoft\Windows\INetCache\Content.MSO\C29DB0A6.tmp">
            <a:extLst>
              <a:ext uri="{FF2B5EF4-FFF2-40B4-BE49-F238E27FC236}">
                <a16:creationId xmlns:a16="http://schemas.microsoft.com/office/drawing/2014/main" id="{26E3415E-D58B-F122-2587-18B899D112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018" y="209193"/>
            <a:ext cx="8532505" cy="875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0503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505FC6-D66B-ED8B-BB7A-590F6D1A36DF}"/>
              </a:ext>
            </a:extLst>
          </p:cNvPr>
          <p:cNvSpPr txBox="1"/>
          <p:nvPr/>
        </p:nvSpPr>
        <p:spPr>
          <a:xfrm>
            <a:off x="442452" y="1484672"/>
            <a:ext cx="11425083" cy="4955203"/>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Common Regex Patterns</a:t>
            </a: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 Email : \b[A-Za-z0-9._%+-]+@[A-Za-z0-9.-]+\.[A-Za-z]{2,}\b</a:t>
            </a:r>
          </a:p>
          <a:p>
            <a:endParaRPr lang="en-IN" sz="2800" dirty="0">
              <a:latin typeface="Times New Roman" panose="02020603050405020304" pitchFamily="18" charset="0"/>
              <a:cs typeface="Times New Roman" panose="02020603050405020304" pitchFamily="18" charset="0"/>
            </a:endParaRPr>
          </a:p>
          <a:p>
            <a:r>
              <a:rPr lang="en-IN" sz="2800" dirty="0"/>
              <a:t>📞 Phone Number : (?:\+91[- ]?)?[6-9]\d{9}</a:t>
            </a:r>
          </a:p>
          <a:p>
            <a:endParaRPr lang="en-IN" sz="2800" dirty="0">
              <a:latin typeface="Times New Roman" panose="02020603050405020304" pitchFamily="18" charset="0"/>
              <a:cs typeface="Times New Roman" panose="02020603050405020304" pitchFamily="18" charset="0"/>
            </a:endParaRPr>
          </a:p>
          <a:p>
            <a:r>
              <a:rPr lang="en-IN" sz="2800" dirty="0"/>
              <a:t>🌐 </a:t>
            </a:r>
            <a:r>
              <a:rPr lang="en-IN" sz="2800" dirty="0">
                <a:hlinkClick r:id="rId2"/>
              </a:rPr>
              <a:t>URL : https?:\/\/(www\.)?[A-Za-z0-9.-]+\.[A-Za-z]{2,}</a:t>
            </a:r>
            <a:endParaRPr lang="en-IN" sz="2800" dirty="0"/>
          </a:p>
          <a:p>
            <a:endParaRPr lang="en-IN" sz="2800" dirty="0">
              <a:latin typeface="Times New Roman" panose="02020603050405020304" pitchFamily="18" charset="0"/>
              <a:cs typeface="Times New Roman" panose="02020603050405020304" pitchFamily="18" charset="0"/>
            </a:endParaRPr>
          </a:p>
          <a:p>
            <a:r>
              <a:rPr lang="en-IN" sz="2800" dirty="0"/>
              <a:t>📅 Date : \b\d{2}/\d{2}/\d{4}\b</a:t>
            </a:r>
            <a:endParaRPr lang="en-IN" sz="2800" dirty="0">
              <a:latin typeface="Times New Roman" panose="02020603050405020304" pitchFamily="18" charset="0"/>
              <a:cs typeface="Times New Roman" panose="02020603050405020304" pitchFamily="18" charset="0"/>
            </a:endParaRPr>
          </a:p>
          <a:p>
            <a:pPr algn="ctr"/>
            <a:endParaRPr lang="en-IN" sz="3200" dirty="0">
              <a:latin typeface="Times New Roman" panose="02020603050405020304" pitchFamily="18" charset="0"/>
              <a:cs typeface="Times New Roman" panose="02020603050405020304" pitchFamily="18" charset="0"/>
            </a:endParaRPr>
          </a:p>
        </p:txBody>
      </p:sp>
      <p:pic>
        <p:nvPicPr>
          <p:cNvPr id="4" name="image3.png" descr="C:\Users\ADMIN\AppData\Local\Microsoft\Windows\INetCache\Content.MSO\C29DB0A6.tmp">
            <a:extLst>
              <a:ext uri="{FF2B5EF4-FFF2-40B4-BE49-F238E27FC236}">
                <a16:creationId xmlns:a16="http://schemas.microsoft.com/office/drawing/2014/main" id="{A00CF3DB-BD1D-CB44-42D0-F25AF415A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1263" y="169863"/>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7387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36AF-0DE9-54CB-C1EE-2D407BE99CFD}"/>
              </a:ext>
            </a:extLst>
          </p:cNvPr>
          <p:cNvSpPr>
            <a:spLocks noGrp="1"/>
          </p:cNvSpPr>
          <p:nvPr>
            <p:ph type="title"/>
          </p:nvPr>
        </p:nvSpPr>
        <p:spPr>
          <a:xfrm>
            <a:off x="838200" y="1004211"/>
            <a:ext cx="10515600" cy="1325563"/>
          </a:xfrm>
        </p:spPr>
        <p:txBody>
          <a:bodyPr/>
          <a:lstStyle/>
          <a:p>
            <a:pPr algn="ctr"/>
            <a:r>
              <a:rPr lang="en-IN" dirty="0">
                <a:latin typeface="Times New Roman" panose="02020603050405020304" pitchFamily="18" charset="0"/>
                <a:cs typeface="Times New Roman" panose="02020603050405020304" pitchFamily="18" charset="0"/>
              </a:rPr>
              <a:t>Applications</a:t>
            </a:r>
          </a:p>
        </p:txBody>
      </p:sp>
      <p:sp>
        <p:nvSpPr>
          <p:cNvPr id="3" name="Content Placeholder 2">
            <a:extLst>
              <a:ext uri="{FF2B5EF4-FFF2-40B4-BE49-F238E27FC236}">
                <a16:creationId xmlns:a16="http://schemas.microsoft.com/office/drawing/2014/main" id="{BF307F4C-4748-429A-E92B-6686E1D154CF}"/>
              </a:ext>
            </a:extLst>
          </p:cNvPr>
          <p:cNvSpPr>
            <a:spLocks noGrp="1"/>
          </p:cNvSpPr>
          <p:nvPr>
            <p:ph idx="1"/>
          </p:nvPr>
        </p:nvSpPr>
        <p:spPr>
          <a:xfrm>
            <a:off x="838200" y="2169751"/>
            <a:ext cx="10515600" cy="4351338"/>
          </a:xfrm>
        </p:spPr>
        <p:txBody>
          <a:bodyPr>
            <a:normAutofit fontScale="92500" lnSpcReduction="20000"/>
          </a:bodyPr>
          <a:lstStyle/>
          <a:p>
            <a:pPr algn="just">
              <a:lnSpc>
                <a:spcPct val="150000"/>
              </a:lnSpc>
              <a:spcBef>
                <a:spcPts val="0"/>
              </a:spcBef>
            </a:pPr>
            <a:r>
              <a:rPr lang="en-IN" dirty="0">
                <a:latin typeface="Times New Roman" panose="02020603050405020304" pitchFamily="18" charset="0"/>
                <a:cs typeface="Times New Roman" panose="02020603050405020304" pitchFamily="18" charset="0"/>
              </a:rPr>
              <a:t>Data Cleaning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Web Scraping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Natural Language Processing (NLP)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Email Validation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Log File Analysis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Cybersecurity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Search Engines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Data Science</a:t>
            </a:r>
          </a:p>
        </p:txBody>
      </p:sp>
      <p:pic>
        <p:nvPicPr>
          <p:cNvPr id="5" name="image3.png" descr="C:\Users\ADMIN\AppData\Local\Microsoft\Windows\INetCache\Content.MSO\C29DB0A6.tmp">
            <a:extLst>
              <a:ext uri="{FF2B5EF4-FFF2-40B4-BE49-F238E27FC236}">
                <a16:creationId xmlns:a16="http://schemas.microsoft.com/office/drawing/2014/main" id="{E18B171E-57BF-637D-8203-2A1726CB82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263" y="169863"/>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5912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E0E00-5FE7-CA72-338D-79F899897E56}"/>
              </a:ext>
            </a:extLst>
          </p:cNvPr>
          <p:cNvSpPr>
            <a:spLocks noGrp="1"/>
          </p:cNvSpPr>
          <p:nvPr>
            <p:ph type="title"/>
          </p:nvPr>
        </p:nvSpPr>
        <p:spPr>
          <a:xfrm>
            <a:off x="838200" y="1250029"/>
            <a:ext cx="10515600" cy="1325563"/>
          </a:xfrm>
        </p:spPr>
        <p:txBody>
          <a:bodyPr/>
          <a:lstStyle/>
          <a:p>
            <a:pPr algn="ctr"/>
            <a:r>
              <a:rPr lang="en-IN" dirty="0">
                <a:latin typeface="Times New Roman" panose="02020603050405020304" pitchFamily="18" charset="0"/>
                <a:cs typeface="Times New Roman" panose="02020603050405020304" pitchFamily="18" charset="0"/>
              </a:rPr>
              <a:t>Advantages </a:t>
            </a:r>
          </a:p>
        </p:txBody>
      </p:sp>
      <p:sp>
        <p:nvSpPr>
          <p:cNvPr id="3" name="Content Placeholder 2">
            <a:extLst>
              <a:ext uri="{FF2B5EF4-FFF2-40B4-BE49-F238E27FC236}">
                <a16:creationId xmlns:a16="http://schemas.microsoft.com/office/drawing/2014/main" id="{DF76962F-AE89-9E74-C10E-26F9BFA65633}"/>
              </a:ext>
            </a:extLst>
          </p:cNvPr>
          <p:cNvSpPr>
            <a:spLocks noGrp="1"/>
          </p:cNvSpPr>
          <p:nvPr>
            <p:ph idx="1"/>
          </p:nvPr>
        </p:nvSpPr>
        <p:spPr>
          <a:xfrm>
            <a:off x="838200" y="1658472"/>
            <a:ext cx="10515600" cy="4351338"/>
          </a:xfrm>
        </p:spPr>
        <p:txBody>
          <a:bodyPr/>
          <a:lstStyle/>
          <a:p>
            <a:pPr marL="0" indent="0" algn="just">
              <a:lnSpc>
                <a:spcPct val="150000"/>
              </a:lnSpc>
              <a:spcBef>
                <a:spcPts val="0"/>
              </a:spcBef>
              <a:buNone/>
            </a:pPr>
            <a:endParaRPr lang="en-IN" dirty="0">
              <a:latin typeface="Times New Roman" panose="02020603050405020304" pitchFamily="18" charset="0"/>
              <a:cs typeface="Times New Roman" panose="02020603050405020304" pitchFamily="18" charset="0"/>
            </a:endParaRPr>
          </a:p>
          <a:p>
            <a:pPr algn="just">
              <a:lnSpc>
                <a:spcPct val="150000"/>
              </a:lnSpc>
              <a:spcBef>
                <a:spcPts val="0"/>
              </a:spcBef>
            </a:pPr>
            <a:r>
              <a:rPr lang="en-IN" dirty="0">
                <a:latin typeface="Times New Roman" panose="02020603050405020304" pitchFamily="18" charset="0"/>
                <a:cs typeface="Times New Roman" panose="02020603050405020304" pitchFamily="18" charset="0"/>
              </a:rPr>
              <a:t>Fast pattern matching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High accuracy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Saves time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Works in multiple programming languages </a:t>
            </a:r>
          </a:p>
          <a:p>
            <a:pPr algn="just">
              <a:lnSpc>
                <a:spcPct val="150000"/>
              </a:lnSpc>
              <a:spcBef>
                <a:spcPts val="0"/>
              </a:spcBef>
            </a:pPr>
            <a:r>
              <a:rPr lang="en-IN" dirty="0">
                <a:latin typeface="Times New Roman" panose="02020603050405020304" pitchFamily="18" charset="0"/>
                <a:cs typeface="Times New Roman" panose="02020603050405020304" pitchFamily="18" charset="0"/>
              </a:rPr>
              <a:t>Automates repetitive tasks</a:t>
            </a:r>
          </a:p>
        </p:txBody>
      </p:sp>
      <p:pic>
        <p:nvPicPr>
          <p:cNvPr id="5" name="image3.png" descr="C:\Users\ADMIN\AppData\Local\Microsoft\Windows\INetCache\Content.MSO\C29DB0A6.tmp">
            <a:extLst>
              <a:ext uri="{FF2B5EF4-FFF2-40B4-BE49-F238E27FC236}">
                <a16:creationId xmlns:a16="http://schemas.microsoft.com/office/drawing/2014/main" id="{BBB956C9-193B-17F3-5E9C-50556D82D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263" y="169863"/>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2355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9C384-285A-45C7-A5FE-7D6D7E22F23F}"/>
              </a:ext>
            </a:extLst>
          </p:cNvPr>
          <p:cNvSpPr>
            <a:spLocks noGrp="1"/>
          </p:cNvSpPr>
          <p:nvPr>
            <p:ph type="title"/>
          </p:nvPr>
        </p:nvSpPr>
        <p:spPr>
          <a:xfrm>
            <a:off x="838200" y="1210701"/>
            <a:ext cx="10515600" cy="1325563"/>
          </a:xfrm>
        </p:spPr>
        <p:txBody>
          <a:bodyPr/>
          <a:lstStyle/>
          <a:p>
            <a:pPr algn="ctr"/>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51AD68C-B747-1F83-50A8-226BEC6BF895}"/>
              </a:ext>
            </a:extLst>
          </p:cNvPr>
          <p:cNvSpPr>
            <a:spLocks noGrp="1"/>
          </p:cNvSpPr>
          <p:nvPr>
            <p:ph idx="1"/>
          </p:nvPr>
        </p:nvSpPr>
        <p:spPr>
          <a:xfrm>
            <a:off x="838200" y="2563045"/>
            <a:ext cx="10515600" cy="4351338"/>
          </a:xfrm>
        </p:spPr>
        <p:txBody>
          <a:bodyPr>
            <a:normAutofit/>
          </a:bodyPr>
          <a:lstStyle/>
          <a:p>
            <a:pPr algn="just">
              <a:lnSpc>
                <a:spcPct val="150000"/>
              </a:lnSpc>
              <a:spcBef>
                <a:spcPts val="0"/>
              </a:spcBef>
            </a:pPr>
            <a:r>
              <a:rPr lang="en-IN" sz="2400" dirty="0">
                <a:latin typeface="Times New Roman" panose="02020603050405020304" pitchFamily="18" charset="0"/>
                <a:cs typeface="Times New Roman" panose="02020603050405020304" pitchFamily="18" charset="0"/>
              </a:rPr>
              <a:t>Regular Expressions (Regex) are a powerful and efficient tool for extracting structured information from unstructured text. They help identify data such as email addresses, phone numbers, URLs, and dates quickly and accurately. Regex reduces manual effort, improves data processing, and is widely used in Data Science, NLP, Web Scraping, and Software Development, making it an essential technique for information extraction.</a:t>
            </a:r>
          </a:p>
        </p:txBody>
      </p:sp>
      <p:pic>
        <p:nvPicPr>
          <p:cNvPr id="5" name="image3.png" descr="C:\Users\ADMIN\AppData\Local\Microsoft\Windows\INetCache\Content.MSO\C29DB0A6.tmp">
            <a:extLst>
              <a:ext uri="{FF2B5EF4-FFF2-40B4-BE49-F238E27FC236}">
                <a16:creationId xmlns:a16="http://schemas.microsoft.com/office/drawing/2014/main" id="{E77B39C6-A1DD-0776-E36D-D3520D856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263" y="169863"/>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3705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363</Words>
  <Application>Microsoft Office PowerPoint</Application>
  <PresentationFormat>Widescreen</PresentationFormat>
  <Paragraphs>48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Designing Efficient Regular Expression Patterns for Information Extraction</vt:lpstr>
      <vt:lpstr>Introduction</vt:lpstr>
      <vt:lpstr>Why Regex is Needed</vt:lpstr>
      <vt:lpstr>PowerPoint Presentation</vt:lpstr>
      <vt:lpstr>Applications</vt:lpstr>
      <vt:lpstr>Advantages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reddy hemanth</dc:creator>
  <cp:lastModifiedBy>guna shekar</cp:lastModifiedBy>
  <cp:revision>3</cp:revision>
  <dcterms:created xsi:type="dcterms:W3CDTF">2026-07-15T05:32:13Z</dcterms:created>
  <dcterms:modified xsi:type="dcterms:W3CDTF">2026-07-16T14:28:59Z</dcterms:modified>
</cp:coreProperties>
</file>